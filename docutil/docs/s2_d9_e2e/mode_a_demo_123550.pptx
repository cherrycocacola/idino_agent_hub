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2937"/>
                </a:solidFill>
                <a:latin typeface="Pretendard"/>
              </a:rPr>
              <a:t>2026년 1분기 매출 동향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ln>
              <a:solidFill>
                <a:srgbClr val="0A4FC2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800000.0</c:v>
                </c:pt>
                <c:pt idx="1">
                  <c:v>850000.0</c:v>
                </c:pt>
                <c:pt idx="2">
                  <c:v>960000.0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Pretendard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0A4FC2"/>
                </a:solidFill>
                <a:latin typeface="Pretendard"/>
              </a:defRPr>
            </a:pPr>
            <a:r>
              <a:rPr sz="3200" b="1">
                <a:solidFill>
                  <a:srgbClr val="0A4FC2"/>
                </a:solidFill>
                <a:latin typeface="Pretendard"/>
              </a:rPr>
              <a:t>2026년 1분기 매출 실적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Pretendard"/>
              </a:defRPr>
            </a:pPr>
            <a:r>
              <a:rPr sz="1200" b="0">
                <a:solidFill>
                  <a:srgbClr val="6B7280"/>
                </a:solidFill>
                <a:latin typeface="Pretendard"/>
              </a:rPr>
              <a:t>매출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A4FC2"/>
                </a:solidFill>
                <a:latin typeface="Pretendard"/>
              </a:defRPr>
            </a:pPr>
            <a:r>
              <a:rPr sz="3600" b="1">
                <a:solidFill>
                  <a:srgbClr val="0A4FC2"/>
                </a:solidFill>
                <a:latin typeface="Pretendard"/>
              </a:rPr>
              <a:t>2,611,587천원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06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Pretendard"/>
              </a:defRPr>
            </a:pPr>
            <a:r>
              <a:rPr sz="1200" b="1">
                <a:solidFill>
                  <a:srgbClr val="10B981"/>
                </a:solidFill>
                <a:latin typeface="Pretendard"/>
              </a:rPr>
              <a:t>+28%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Pretendard"/>
              </a:defRPr>
            </a:pPr>
            <a:r>
              <a:rPr sz="1200" b="0">
                <a:solidFill>
                  <a:srgbClr val="6B7280"/>
                </a:solidFill>
                <a:latin typeface="Pretendard"/>
              </a:rPr>
              <a:t>영업이익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87451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A4FC2"/>
                </a:solidFill>
                <a:latin typeface="Pretendard"/>
              </a:defRPr>
            </a:pPr>
            <a:r>
              <a:rPr sz="3600" b="1">
                <a:solidFill>
                  <a:srgbClr val="0A4FC2"/>
                </a:solidFill>
                <a:latin typeface="Pretendard"/>
              </a:rPr>
              <a:t>정보 없음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Pretendard"/>
              </a:defRPr>
            </a:pPr>
            <a:r>
              <a:rPr sz="1200" b="0">
                <a:solidFill>
                  <a:srgbClr val="6B7280"/>
                </a:solidFill>
                <a:latin typeface="Pretendard"/>
              </a:rPr>
              <a:t>신규 고객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87451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A4FC2"/>
                </a:solidFill>
                <a:latin typeface="Pretendard"/>
              </a:defRPr>
            </a:pPr>
            <a:r>
              <a:rPr sz="3600" b="1">
                <a:solidFill>
                  <a:srgbClr val="0A4FC2"/>
                </a:solidFill>
                <a:latin typeface="Pretendard"/>
              </a:rPr>
              <a:t>정보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Pretendard"/>
              </a:defRPr>
            </a:pPr>
            <a:r>
              <a:rPr sz="1200" b="0">
                <a:solidFill>
                  <a:srgbClr val="6B7280"/>
                </a:solidFill>
                <a:latin typeface="Pretendard"/>
              </a:rPr>
              <a:t>이탈률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87451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A4FC2"/>
                </a:solidFill>
                <a:latin typeface="Pretendard"/>
              </a:defRPr>
            </a:pPr>
            <a:r>
              <a:rPr sz="3600" b="1">
                <a:solidFill>
                  <a:srgbClr val="0A4FC2"/>
                </a:solidFill>
                <a:latin typeface="Pretendard"/>
              </a:rPr>
              <a:t>정보 없음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48640" y="1554480"/>
          <a:ext cx="110944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카테고리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2024년 매출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2025년 매출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성장률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S/W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548,433천원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H/W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130,579천원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시스템 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1,645,300천원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컨설팅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156,695천원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130,579천원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548640" y="1554480"/>
          <a:ext cx="776609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4FC2"/>
                </a:solidFill>
                <a:latin typeface="Pretendard"/>
              </a:defRPr>
            </a:pPr>
            <a:r>
              <a:rPr sz="2000" b="1">
                <a:solidFill>
                  <a:srgbClr val="0A4FC2"/>
                </a:solidFill>
                <a:latin typeface="Pretendard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40279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Pretendard"/>
              </a:defRPr>
            </a:pPr>
            <a:r>
              <a:rPr sz="1400" b="0">
                <a:solidFill>
                  <a:srgbClr val="1F2937"/>
                </a:solidFill>
                <a:latin typeface="Pretendard"/>
              </a:rPr>
              <a:t>2026년 1분기 매출은 전년 대비 증가하였으며, 특히 시스템 개발 부문에서 두드러진 성장을 보였습니다.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4FC2"/>
                </a:solidFill>
                <a:latin typeface="Pretendard"/>
              </a:defRPr>
            </a:pPr>
            <a:r>
              <a:rPr sz="2000" b="1">
                <a:solidFill>
                  <a:srgbClr val="0A4FC2"/>
                </a:solidFill>
                <a:latin typeface="Pretendard"/>
              </a:rPr>
              <a:t>향후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11094415" cy="929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Pretendard"/>
              </a:defRPr>
            </a:pPr>
            <a:r>
              <a:rPr sz="1400" b="0">
                <a:solidFill>
                  <a:srgbClr val="1F2937"/>
                </a:solidFill>
                <a:latin typeface="Pretendard"/>
              </a:rPr>
              <a:t>• 신규 고객 확보 전략 강화</a:t>
            </a:r>
          </a:p>
          <a:p>
            <a:pPr algn="l">
              <a:defRPr sz="1400" b="0">
                <a:solidFill>
                  <a:srgbClr val="1F2937"/>
                </a:solidFill>
                <a:latin typeface="Pretendard"/>
              </a:defRPr>
            </a:pPr>
            <a:r>
              <a:rPr sz="1400" b="0">
                <a:solidFill>
                  <a:srgbClr val="1F2937"/>
                </a:solidFill>
                <a:latin typeface="Pretendard"/>
              </a:rPr>
              <a:t>• 영업이익 개선을 위한 비용 절감</a:t>
            </a:r>
          </a:p>
          <a:p>
            <a:pPr algn="l">
              <a:defRPr sz="1400" b="0">
                <a:solidFill>
                  <a:srgbClr val="1F2937"/>
                </a:solidFill>
                <a:latin typeface="Pretendard"/>
              </a:defRPr>
            </a:pPr>
            <a:r>
              <a:rPr sz="1400" b="0">
                <a:solidFill>
                  <a:srgbClr val="1F2937"/>
                </a:solidFill>
                <a:latin typeface="Pretendard"/>
              </a:rPr>
              <a:t>• 이탈률 감소를 위한 고객 만족도 제고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