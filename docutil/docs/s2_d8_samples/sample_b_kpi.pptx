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A4FC2"/>
                </a:solidFill>
                <a:latin typeface="Pretendard"/>
              </a:defRPr>
            </a:pPr>
            <a:r>
              <a:rPr sz="3200" b="1">
                <a:solidFill>
                  <a:srgbClr val="0A4FC2"/>
                </a:solidFill>
                <a:latin typeface="Pretendard"/>
              </a:rPr>
              <a:t>2026년 1분기 주요 지표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087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  <a:latin typeface="Pretendard"/>
              </a:defRPr>
            </a:pPr>
            <a:r>
              <a:rPr sz="1200" b="0">
                <a:solidFill>
                  <a:srgbClr val="6B7280"/>
                </a:solidFill>
                <a:latin typeface="Pretendard"/>
              </a:rPr>
              <a:t>월간 활성 사용자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A4FC2"/>
                </a:solidFill>
                <a:latin typeface="Pretendard"/>
              </a:defRPr>
            </a:pPr>
            <a:r>
              <a:rPr sz="3600" b="1">
                <a:solidFill>
                  <a:srgbClr val="0A4FC2"/>
                </a:solidFill>
                <a:latin typeface="Pretendard"/>
              </a:rPr>
              <a:t>18,420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5603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0B981"/>
                </a:solidFill>
                <a:latin typeface="Pretendard"/>
              </a:defRPr>
            </a:pPr>
            <a:r>
              <a:rPr sz="1200" b="1">
                <a:solidFill>
                  <a:srgbClr val="10B981"/>
                </a:solidFill>
                <a:latin typeface="Pretendard"/>
              </a:rPr>
              <a:t>+12.4%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63240" y="15087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  <a:latin typeface="Pretendard"/>
              </a:defRPr>
            </a:pPr>
            <a:r>
              <a:rPr sz="1200" b="0">
                <a:solidFill>
                  <a:srgbClr val="6B7280"/>
                </a:solidFill>
                <a:latin typeface="Pretendard"/>
              </a:rPr>
              <a:t>평균 응답 시간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18288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A4FC2"/>
                </a:solidFill>
                <a:latin typeface="Pretendard"/>
              </a:defRPr>
            </a:pPr>
            <a:r>
              <a:rPr sz="3600" b="1">
                <a:solidFill>
                  <a:srgbClr val="0A4FC2"/>
                </a:solidFill>
                <a:latin typeface="Pretendard"/>
              </a:rPr>
              <a:t>142ms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3240" y="25603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F4444"/>
                </a:solidFill>
                <a:latin typeface="Pretendard"/>
              </a:defRPr>
            </a:pPr>
            <a:r>
              <a:rPr sz="1200" b="1">
                <a:solidFill>
                  <a:srgbClr val="EF4444"/>
                </a:solidFill>
                <a:latin typeface="Pretendard"/>
              </a:rPr>
              <a:t>-8.2%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0" y="15087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  <a:latin typeface="Pretendard"/>
              </a:defRPr>
            </a:pPr>
            <a:r>
              <a:rPr sz="1200" b="0">
                <a:solidFill>
                  <a:srgbClr val="6B7280"/>
                </a:solidFill>
                <a:latin typeface="Pretendard"/>
              </a:rPr>
              <a:t>신규 문서 업로드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0" y="18288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A4FC2"/>
                </a:solidFill>
                <a:latin typeface="Pretendard"/>
              </a:defRPr>
            </a:pPr>
            <a:r>
              <a:rPr sz="3600" b="1">
                <a:solidFill>
                  <a:srgbClr val="0A4FC2"/>
                </a:solidFill>
                <a:latin typeface="Pretendard"/>
              </a:rPr>
              <a:t>3,210건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0" y="25603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0B981"/>
                </a:solidFill>
                <a:latin typeface="Pretendard"/>
              </a:defRPr>
            </a:pPr>
            <a:r>
              <a:rPr sz="1200" b="1">
                <a:solidFill>
                  <a:srgbClr val="10B981"/>
                </a:solidFill>
                <a:latin typeface="Pretendard"/>
              </a:rPr>
              <a:t>+5.0%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15087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  <a:latin typeface="Pretendard"/>
              </a:defRPr>
            </a:pPr>
            <a:r>
              <a:rPr sz="1200" b="0">
                <a:solidFill>
                  <a:srgbClr val="6B7280"/>
                </a:solidFill>
                <a:latin typeface="Pretendard"/>
              </a:rPr>
              <a:t>오류율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18288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A4FC2"/>
                </a:solidFill>
                <a:latin typeface="Pretendard"/>
              </a:defRPr>
            </a:pPr>
            <a:r>
              <a:rPr sz="3600" b="1">
                <a:solidFill>
                  <a:srgbClr val="0A4FC2"/>
                </a:solidFill>
                <a:latin typeface="Pretendard"/>
              </a:rPr>
              <a:t>0.04%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25603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B7280"/>
                </a:solidFill>
                <a:latin typeface="Pretendard"/>
              </a:defRPr>
            </a:pPr>
            <a:r>
              <a:rPr sz="1200" b="1">
                <a:solidFill>
                  <a:srgbClr val="6B7280"/>
                </a:solidFill>
                <a:latin typeface="Pretendard"/>
              </a:rPr>
              <a:t>±0.00%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0175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Pretendard"/>
              </a:defRPr>
            </a:pPr>
            <a:r>
              <a:rPr sz="1400" b="1">
                <a:solidFill>
                  <a:srgbClr val="1F2937"/>
                </a:solidFill>
                <a:latin typeface="Pretendard"/>
              </a:rPr>
              <a:t>전반적으로 안정적 성장 추세이며 응답 시간 개선이 두드러진다.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