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937"/>
                </a:solidFill>
                <a:latin typeface="Pretendard"/>
              </a:rPr>
              <a:t>월별 신규 가입자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개인</c:v>
                </c:pt>
              </c:strCache>
            </c:strRef>
          </c:tx>
          <c:spPr>
            <a:solidFill>
              <a:srgbClr val="0A4FC2"/>
            </a:solidFill>
          </c:spPr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420.0</c:v>
                </c:pt>
                <c:pt idx="1">
                  <c:v>510.0</c:v>
                </c:pt>
                <c:pt idx="2">
                  <c:v>640.0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기업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110.0</c:v>
                </c:pt>
                <c:pt idx="1">
                  <c:v>165.0</c:v>
                </c:pt>
                <c:pt idx="2">
                  <c:v>210.0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Pretendard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937"/>
                </a:solidFill>
                <a:latin typeface="Pretendard"/>
              </a:rPr>
              <a:t>주간 평균 응답 시간(ms)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</c:v>
                </c:pt>
              </c:strCache>
            </c:strRef>
          </c:tx>
          <c:spPr>
            <a:ln>
              <a:solidFill>
                <a:srgbClr val="0A4FC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160.0</c:v>
                </c:pt>
                <c:pt idx="1">
                  <c:v>155.0</c:v>
                </c:pt>
                <c:pt idx="2">
                  <c:v>148.0</c:v>
                </c:pt>
                <c:pt idx="3">
                  <c:v>145.0</c:v>
                </c:pt>
                <c:pt idx="4">
                  <c:v>143.0</c:v>
                </c:pt>
                <c:pt idx="5">
                  <c:v>142.0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A4FC2"/>
                </a:solidFill>
                <a:latin typeface="Pretendard"/>
              </a:defRPr>
            </a:pPr>
            <a:r>
              <a:rPr sz="3200" b="1">
                <a:solidFill>
                  <a:srgbClr val="0A4FC2"/>
                </a:solidFill>
                <a:latin typeface="Pretendard"/>
              </a:rPr>
              <a:t>성과 지표 그래프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508760"/>
          <a:ext cx="776609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4846320"/>
          <a:ext cx="776609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8122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4FC2"/>
                </a:solidFill>
                <a:latin typeface="Pretendard"/>
              </a:defRPr>
            </a:pPr>
            <a:r>
              <a:rPr sz="2000" b="1">
                <a:solidFill>
                  <a:srgbClr val="0A4FC2"/>
                </a:solidFill>
                <a:latin typeface="Pretendard"/>
              </a:rPr>
              <a:t>결론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