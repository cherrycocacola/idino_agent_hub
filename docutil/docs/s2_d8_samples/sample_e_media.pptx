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A4FC2"/>
                </a:solidFill>
                <a:latin typeface="Pretendard"/>
              </a:defRPr>
            </a:pPr>
            <a:r>
              <a:rPr sz="3200" b="1">
                <a:solidFill>
                  <a:srgbClr val="0A4FC2"/>
                </a:solidFill>
                <a:latin typeface="Pretendard"/>
              </a:rPr>
              <a:t>사용자 여정 지도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365760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rPr sz="1000" b="0" i="1">
                <a:solidFill>
                  <a:srgbClr val="6B7280"/>
                </a:solidFill>
                <a:latin typeface="Pretendard"/>
              </a:rPr>
              <a:t>[이미지 없음] 사용자 여정 개념도 (placeholder)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94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Pretendard"/>
              </a:defRPr>
            </a:pPr>
            <a:r>
              <a:rPr sz="1000" b="0" i="1">
                <a:solidFill>
                  <a:srgbClr val="6B7280"/>
                </a:solidFill>
                <a:latin typeface="Pretendard"/>
              </a:rPr>
              <a:t>출처: 내부 워크숍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519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Pretendard"/>
              </a:defRPr>
            </a:pPr>
            <a:r>
              <a:rPr sz="1400" b="0">
                <a:solidFill>
                  <a:srgbClr val="1F2937"/>
                </a:solidFill>
                <a:latin typeface="Pretendard"/>
              </a:rPr>
              <a:t>사용자는 업로드 → 질문 → 보고서 생성 3 단계를 거쳐 업무를 완료한다.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1094415" cy="929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Pretendard"/>
              </a:defRPr>
            </a:pPr>
            <a:r>
              <a:rPr sz="1400" b="0">
                <a:solidFill>
                  <a:srgbClr val="1F2937"/>
                </a:solidFill>
                <a:latin typeface="Pretendard"/>
              </a:rPr>
              <a:t>1. 업로드 단계 평균 4 초 소요</a:t>
            </a:r>
          </a:p>
          <a:p>
            <a:pPr algn="l">
              <a:defRPr sz="1400" b="0">
                <a:solidFill>
                  <a:srgbClr val="1F2937"/>
                </a:solidFill>
                <a:latin typeface="Pretendard"/>
              </a:defRPr>
            </a:pPr>
            <a:r>
              <a:rPr sz="1400" b="0">
                <a:solidFill>
                  <a:srgbClr val="1F2937"/>
                </a:solidFill>
                <a:latin typeface="Pretendard"/>
              </a:rPr>
              <a:t>2. 질문 단계 평균 2 회 왕복</a:t>
            </a:r>
          </a:p>
          <a:p>
            <a:pPr algn="l">
              <a:defRPr sz="1400" b="0">
                <a:solidFill>
                  <a:srgbClr val="1F2937"/>
                </a:solidFill>
                <a:latin typeface="Pretendard"/>
              </a:defRPr>
            </a:pPr>
            <a:r>
              <a:rPr sz="1400" b="0">
                <a:solidFill>
                  <a:srgbClr val="1F2937"/>
                </a:solidFill>
                <a:latin typeface="Pretendard"/>
              </a:rPr>
              <a:t>3. 보고서 생성까지 약 38 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